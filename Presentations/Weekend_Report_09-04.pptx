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484" autoAdjust="0"/>
  </p:normalViewPr>
  <p:slideViewPr>
    <p:cSldViewPr snapToGrid="0">
      <p:cViewPr varScale="1">
        <p:scale>
          <a:sx n="75" d="100"/>
          <a:sy n="75" d="100"/>
        </p:scale>
        <p:origin x="30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6BC03-AFB0-4218-B7C3-94E9336FD6CE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AC04E-6E8B-4E05-987A-8481E20143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00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25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AE75-E95E-D42C-347E-91D2ED37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858EE70-A41A-4948-50B0-90B246AC1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0F6E3D-1204-6820-BA6B-A3F22ACB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E85546-F5A8-AD42-2748-27E9708DB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991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9D2C-3810-95A1-FDA1-71F54132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7E11D7-88EB-A3F0-849B-2D9749112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586BD5-B7DC-216B-F06B-9B5380725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7ECCB6-47E7-EFF8-BB9E-3D36AE30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154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F056-92D6-0D90-6BF5-81D9AB53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A25A98-3A12-6DE7-3CF6-3671151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E4E469-6D53-8FC1-A87D-7E53438C6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3F8EC3-3410-897C-844B-F9B11B1AF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766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A73DD-3533-EE2C-A363-CF92D032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2E8B50-A7E8-0EEA-7EAE-C110889E5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E958B29-2507-1515-2978-85155ABA7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ED8335-0B18-297B-8E98-B6A18CB6E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445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F3EB-8BA1-FE7A-603A-052794667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79A2EBF-71E8-D933-B321-D25429B6A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FC8A3A-498C-0C1D-4435-9423070B5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963EB8-9FD4-2AF1-468B-3324593E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57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E0335-572F-0A00-2D57-497244C9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05ABBC-E1D2-7421-A72B-983F0C444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A4262-1068-5CD9-01E8-45F01A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B067C-E428-BC7D-CCB9-00873DFA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63236C-2F4F-0D1F-05F1-2645080D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11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940C8-F0C4-81B4-13DE-47162368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53B72-18C7-D383-DD06-8349EBCE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BB260-3AD2-1625-CD6E-7294254F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666E2-F791-ED6A-DC00-3BF0CC99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3BED6-5440-9C7B-AF7A-E6B30920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77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172F5-F24A-BB59-957C-BA1B73C6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D6BD4E-B64C-4CDC-B4B9-2B9E3CBA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668E7-8544-BE5C-A205-A74F002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CC280-D307-6A8B-DCB3-31A952EF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228ACE-6F76-5404-C266-16FE6AE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87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1AB04-1F4E-87D2-EC14-9C8DC89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B7D30-09ED-213A-0039-7A2F3ECD5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FE9525-77B2-FC2E-5281-4EF329F2F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6F6683-9465-C036-A458-5FE53E24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DA581-6D49-51F3-C123-C9506D3B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20E629-7318-772B-BE23-044419B7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6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C00F9-824A-8C3B-97A8-D6920D6D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BFA56-09A6-B853-130B-A1BC2C8C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25D14B-3150-0F17-D71D-04538CDF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4D8C16-A063-C2AF-DCC9-87C71C47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3E42D4-58EE-4016-8899-DEB442BD4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041BA9-85C6-E740-970D-4CDD388E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AB42F9-F2D7-5C71-C856-7F7B0370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98EDC9-3F68-F205-832D-FDD18AB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23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59632-C3E8-5D53-9F0A-B3D04152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FCB2D-38A5-6D43-60E3-E79FFBB9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EF757D-0D6B-E35F-A923-6383422F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ED9C64-A13B-2C5E-1DA4-3BC6C48E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91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8B12A4-4383-5E87-8BE6-A3C173A0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788AC-2D27-9CE8-10DD-36878AE1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2D4B5-5E96-4811-0CB0-59B8429A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0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D092B-FD11-B66A-3026-8D0197BD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1A020-8BE3-8BBE-D7A9-589ADB6E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C7A947-0687-54D9-35EA-EFABBCC2A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133EB2-6E09-43FB-8EEB-DBBBF708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5933C7-0244-ADD7-25AE-72845C1E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E4AAEE-A3FA-71AD-0BB8-D1D9679C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9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CB1-0E56-DBE9-E268-9B65D81B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8B5383-DAE6-0C52-00DE-6682ADFC8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DC1FD7-C208-B7E8-E944-10FBCF00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9B4E86-0661-4A30-82EF-856CAD56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5641E9-23B2-C068-F0DA-3A731DEA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E3CD7B-4041-98AC-C37F-392C913A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92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2BFA0-941A-9615-635E-D0D61070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D8370C-6C3B-8C00-043C-2FD6B516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D19F5-2C62-BACF-4BC1-CD5A66C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9EA09-3F07-276F-1A5C-F747D30B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B86DB-34E7-26D3-E27F-E544EF1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4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FE3BD-2896-9D6D-8E3C-E0DD37B1F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D5A73C-8CD4-5DBD-4A97-2A3D194E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7B79E-7CD8-DB0A-09C6-4F54E6A8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22E43-4B79-78B8-4708-1D7E202F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0997AA-979D-A32C-E2CF-FD5043DF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18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03B124-0676-8427-392B-BD466473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3945A-1D0A-F0B4-B495-72D0AE9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CE5F7-734C-621E-97C5-26945C5D1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E92E4-497B-4963-9461-9C5AC1BD3FEB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E1CC7-9F55-3847-B927-062753F74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4878D-2BE9-239A-2DEA-F4FA5E119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16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Wassertropfen">
            <a:extLst>
              <a:ext uri="{FF2B5EF4-FFF2-40B4-BE49-F238E27FC236}">
                <a16:creationId xmlns:a16="http://schemas.microsoft.com/office/drawing/2014/main" id="{2CF23648-AED1-77BB-9BAA-2AE4FEFA2E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23623" b="1377"/>
          <a:stretch>
            <a:fillRect/>
          </a:stretch>
        </p:blipFill>
        <p:spPr>
          <a:xfrm>
            <a:off x="782669" y="29548"/>
            <a:ext cx="10691280" cy="60138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B54E4-D7FA-CD27-237A-2701A84A6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de-DE" sz="4800" dirty="0" err="1">
                <a:solidFill>
                  <a:srgbClr val="FFFFFF"/>
                </a:solidFill>
              </a:rPr>
              <a:t>Droplets</a:t>
            </a:r>
            <a:r>
              <a:rPr lang="de-DE" sz="4800" dirty="0">
                <a:solidFill>
                  <a:srgbClr val="FFFFFF"/>
                </a:solidFill>
              </a:rPr>
              <a:t> on </a:t>
            </a:r>
            <a:r>
              <a:rPr lang="de-DE" sz="4800" dirty="0" err="1">
                <a:solidFill>
                  <a:srgbClr val="FFFFFF"/>
                </a:solidFill>
              </a:rPr>
              <a:t>Cylindrical</a:t>
            </a:r>
            <a:r>
              <a:rPr lang="de-DE" sz="4800" dirty="0">
                <a:solidFill>
                  <a:srgbClr val="FFFFFF"/>
                </a:solidFill>
              </a:rPr>
              <a:t> PMMA </a:t>
            </a:r>
            <a:r>
              <a:rPr lang="de-DE" sz="4800" dirty="0" err="1">
                <a:solidFill>
                  <a:srgbClr val="FFFFFF"/>
                </a:solidFill>
              </a:rPr>
              <a:t>Surfaces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34F6-2CE2-AB1D-1F76-01ECF26B0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Noah J. R.</a:t>
            </a:r>
          </a:p>
        </p:txBody>
      </p:sp>
    </p:spTree>
    <p:extLst>
      <p:ext uri="{BB962C8B-B14F-4D97-AF65-F5344CB8AC3E}">
        <p14:creationId xmlns:p14="http://schemas.microsoft.com/office/powerpoint/2010/main" val="40546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CF3AA-73FE-5455-8079-025602D4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F39E972-6316-B662-0FAC-8D5F79E1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9B3DAF-64DD-4161-063B-58AEFF9CA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B96FF8-43B1-2A51-7074-278224346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29CAD96-6298-AC6F-1224-EBD75FE9F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964E16-43F8-920C-F727-D11EA8A05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365F73A-BDDF-EA66-CAF1-B27CAD29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8345763-F265-A508-D8C0-6C17C59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028D0C5-5E52-B35F-5ED0-637F0924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BE29685-CA07-0FD7-C2DD-70D4C75DF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1548F1F-B450-D9DC-CC5B-003A6A2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386077"/>
            <a:ext cx="9499219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Contact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Length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Measurement (4mm)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24961A-B758-DA37-9D27-4068CE5F4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3BB6EC-E8EA-02B6-ABCC-9A0BC0FB2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F6A1B16-71B2-6DE4-6100-668F51D05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913328-0C41-DB9A-008A-B9BC805E6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C6F261-616B-F5A5-DCE4-7D7D0A7E0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C281D54-CAC6-71CE-8289-C7E719D9E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38CF61E-1209-83B3-67CB-BBEE60FE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547624B-7C49-9C12-5207-7A6EEB8EB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9F1524-9DA6-3822-E519-9C1299712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9A26864-98A4-A73D-9ED0-38D23196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649B757-6571-9D69-40DD-33F10077D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8F1BA58-4325-C44D-6BAF-F95E6988E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7DAB3E-EEEE-E24E-AC72-1C2165357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5" y="2044614"/>
            <a:ext cx="5949696" cy="43312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4E45099-BC50-BED7-6D8C-782287F50B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083" y="2044614"/>
            <a:ext cx="5949696" cy="43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0ACCF-5981-6B31-FB9A-91FEC96F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8C28B92-6A05-4E9D-2B68-700187BC1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561C33-39D1-79AA-29DC-399D988E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694743E-0A0F-B147-3EB5-7741FDDBE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DF52B81-46A2-1FA0-C612-78585DCBE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E1DC91-C823-7B61-AC2C-3C189ADBE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EE6AEE-BD67-66B6-DE37-DBD16729A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69BD496-BD6E-9B7C-D578-6B7F49627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73F6917-920A-89E4-C4F4-865CD9AD2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CC38988-ADFA-D3D9-7A96-41EE87FEA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2929AD1-BCA4-719F-8128-5D59C41E7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386077"/>
            <a:ext cx="9702917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Contact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Length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Measurement (10mm)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AA781C-1833-A6A8-57CA-FB146836A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22333D-A513-5D4A-8378-1991B764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2141581-7A4B-FC05-6A0C-612C0225F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C06B38-3601-E6F6-A5E9-20C1ED352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C717401-0328-FD90-DF2D-DFB691177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83B4094-A87E-0566-E931-E36447CFD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E7C97141-EEA8-1A8E-270E-D64F56A5B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0E1DEC9-616A-4209-2C8A-97D64FC01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046D348-F2A8-FFC4-8BD4-09C97230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0A53E9F-FAD4-B09F-7816-2B029A30F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BC5D15-8793-BADA-C62E-4C66598FC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13B0E82-DC99-F31E-7070-790761023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EF12A7CC-7E9A-6079-9BC2-F81EAF3D2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486" y="1809577"/>
            <a:ext cx="5949696" cy="433120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0FD59B5-858E-2EE7-E4F5-7C56B9340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" y="1787586"/>
            <a:ext cx="5949696" cy="43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1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B395F-A953-E52C-B601-740927EB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D1AD4D2-2ECD-70F8-D496-2E2B6DE74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DE247A-12D1-EAAB-A6D0-E010344F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7064767-4857-F226-4D02-283A11658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7249FDB-0714-0261-C840-EFA614508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57F7A14-D8E1-DF58-3F9A-87757103E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B9A5DCF-207E-C2F8-86F1-C564F7C48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55DECDB-436A-0C6A-6731-5C6E1805C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F011596-2253-9B67-009A-594B245BB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F98D9A2-3166-1F00-D295-06AF63C57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A2274F2-6EDB-F893-FDF3-2C8F517E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386077"/>
            <a:ext cx="9702917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Contact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Length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Measurement (2mm)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BE5DC2-6A11-12F6-50AC-E087A63CA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D2E4A07-4AC5-91C2-2708-0788AB4D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5F5C7F-D216-20A8-03A1-11BB3EF5B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6CA23C4-6775-5A02-CEE1-EF23B30CA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56ABCB5-C13B-4B19-E57F-076B3F8B0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66368A1-CCB0-CB3B-8FAD-66DF312B7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A803876D-8A04-6B9C-B2F0-0040DDEB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80FAF1-A81C-B0E8-AFF6-2B2479200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AE99D53-7979-F546-12AC-B3CE03A21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5A3D218-6E78-061D-C323-36758EE17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B726657-DE2B-B9CB-33AC-2B4BF7C54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1D9B5F6-3EDF-0A86-3E4A-0EEF25A369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7FD3FE6-9809-1129-5191-B08D17F4E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778" y="1660207"/>
            <a:ext cx="5949696" cy="433120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DB0D150-3921-A2E7-2976-EBAB008D4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7" y="1660207"/>
            <a:ext cx="5949696" cy="43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6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1C989-1BF2-7BAF-04A0-695B57DF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E42034D-BCF2-2D9E-13F3-958BD1BB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C2932B-0DC1-55E6-43B9-DE939D9F3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A8FE60-5EF1-73CC-F2ED-97DA5B5B1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0E83996-F322-65FA-AF95-92DE5FB71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6CB00F9-06EE-FD3D-46A0-4C9B7051F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948190F-9780-2FFD-46D1-32A5C919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3ABA44B-9F1E-9CA3-F79E-BE91C14C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ABA2CA3-6DF4-85B6-14A6-B970ACBD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755C1C7-3555-0BC0-AB75-AC62A33A9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788C8CC-F198-5F97-7799-81A83AE5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386077"/>
            <a:ext cx="9702917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Comparison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20E93F-F193-7709-9884-455F807C3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A69D44A-A778-6D66-ABB2-EC88A3A0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7ECCC6B-FF9F-DFEF-2DB0-ABA08834B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B6958C6-0E22-71DB-85DA-65ADC0634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9E46507-320E-7382-275C-BCD2B1F8D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66D61E6-38D5-FEE0-ADD7-9C0ED2E44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31F07CA6-C6A3-98F1-8597-499996D06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5D578B7-BBB1-18D2-0B9B-944E5709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62B8DBC-AA3D-E315-5634-A526C490B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F7BB7E9-49DB-4897-C6F4-08BC83B74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92EBBEC-D6EA-FBE9-62E5-427DE0D61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53AE4BA-188C-5F76-E2E7-C3CB6C23D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C41214EF-252E-3BF7-7E41-4952C01C0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589" y="1739554"/>
            <a:ext cx="5949696" cy="433120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7DFC2F2-B659-C7C8-42A5-50EA7B332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" y="1739554"/>
            <a:ext cx="5949696" cy="43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29B36-5DCF-CBED-508B-90888DD2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BB2D6E8-CA5D-D911-33E3-FAFF12DE8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D71834-91C2-CA74-0A5E-FB64C0B4F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2351714-C992-3E53-2EA1-8D184EAD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A0FE8A5-4D9B-5F10-1FE4-5BB39286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52C790D-4E6D-F053-E1DC-F26703B80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90A57CB-5136-A1CB-FB03-7423BCE20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9B7E3FB-0FF8-D569-977B-BCBDC4371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CF644BB-7C4B-A560-0D2A-B6E724521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15302E6-CD9B-1FF5-7EF0-7CEC1415D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BFA0231-C7DA-DC1A-348D-47C4BA90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4" y="487585"/>
            <a:ext cx="9702917" cy="1176360"/>
          </a:xfrm>
          <a:noFill/>
        </p:spPr>
        <p:txBody>
          <a:bodyPr anchor="b">
            <a:normAutofit fontScale="90000"/>
          </a:bodyPr>
          <a:lstStyle/>
          <a:p>
            <a:pPr algn="ctr"/>
            <a:r>
              <a:rPr lang="de-DE" sz="4800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How to </a:t>
            </a:r>
            <a:r>
              <a:rPr lang="de-DE" sz="4800" u="sng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compare</a:t>
            </a:r>
            <a:r>
              <a:rPr lang="de-DE" sz="4800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 = 2mm / 4mm / 10mm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3C1C61-23C8-4628-A287-47D1CF303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53E7E9F-DFE1-EB64-E488-BBD229D6C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89470A7-6561-9D11-FAA3-2681803A3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567C6D7-FBFC-26AE-EE25-442B725D2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93E2892-EBDE-635C-9B31-91B097D5C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CDF759F-8E32-3139-E23E-0A96B8AF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0748FD9A-5AA4-B210-8884-4B3A72EDD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22CF4AC-7699-84B7-FDA0-0C1DCD31F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D1B731-E3CA-95FF-A99C-75899FE22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655D71E-A561-C14A-905C-30A8A3A09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0AE9DA1-819B-975D-4B97-62F7E2B33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0AD85A2-163A-4135-905D-A8FDD6BE7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el 1">
            <a:extLst>
              <a:ext uri="{FF2B5EF4-FFF2-40B4-BE49-F238E27FC236}">
                <a16:creationId xmlns:a16="http://schemas.microsoft.com/office/drawing/2014/main" id="{985CB630-3471-FF60-03D3-54E92801F416}"/>
              </a:ext>
            </a:extLst>
          </p:cNvPr>
          <p:cNvSpPr txBox="1">
            <a:spLocks/>
          </p:cNvSpPr>
          <p:nvPr/>
        </p:nvSpPr>
        <p:spPr>
          <a:xfrm>
            <a:off x="1396870" y="1254261"/>
            <a:ext cx="9702917" cy="11763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800" b="1" dirty="0" err="1">
                <a:solidFill>
                  <a:schemeClr val="bg1"/>
                </a:solidFill>
              </a:rPr>
              <a:t>Normalizazion</a:t>
            </a:r>
            <a:endParaRPr lang="de-DE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4AB1A14-B2EF-FD87-59A3-655038DC6D83}"/>
                  </a:ext>
                </a:extLst>
              </p:cNvPr>
              <p:cNvSpPr txBox="1"/>
              <p:nvPr/>
            </p:nvSpPr>
            <p:spPr>
              <a:xfrm>
                <a:off x="571497" y="2855169"/>
                <a:ext cx="11048999" cy="3672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de-DE" sz="2800" b="1" dirty="0">
                    <a:solidFill>
                      <a:schemeClr val="bg1"/>
                    </a:solidFill>
                  </a:rPr>
                  <a:t>Contact </a:t>
                </a:r>
                <a:r>
                  <a:rPr lang="de-DE" sz="2800" b="1" dirty="0" err="1">
                    <a:solidFill>
                      <a:schemeClr val="bg1"/>
                    </a:solidFill>
                  </a:rPr>
                  <a:t>Lengths</a:t>
                </a:r>
                <a:r>
                  <a:rPr lang="de-DE" sz="2800" b="1" dirty="0">
                    <a:solidFill>
                      <a:schemeClr val="bg1"/>
                    </a:solidFill>
                  </a:rPr>
                  <a:t>: 		L  	</a:t>
                </a:r>
                <a:r>
                  <a:rPr lang="de-DE" sz="28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 	L / D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de-DE" sz="2800" b="1" dirty="0">
                    <a:solidFill>
                      <a:schemeClr val="bg1"/>
                    </a:solidFill>
                  </a:rPr>
                  <a:t>Contact </a:t>
                </a:r>
                <a:r>
                  <a:rPr lang="de-DE" sz="2800" b="1" dirty="0" err="1">
                    <a:solidFill>
                      <a:schemeClr val="bg1"/>
                    </a:solidFill>
                  </a:rPr>
                  <a:t>Widths</a:t>
                </a:r>
                <a:r>
                  <a:rPr lang="de-DE" sz="2800" b="1" dirty="0">
                    <a:solidFill>
                      <a:schemeClr val="bg1"/>
                    </a:solidFill>
                  </a:rPr>
                  <a:t>: 			W  	</a:t>
                </a:r>
                <a:r>
                  <a:rPr lang="de-DE" sz="28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  	W / D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de-DE" sz="2800" b="1" dirty="0" err="1">
                    <a:solidFill>
                      <a:schemeClr val="bg1"/>
                    </a:solidFill>
                  </a:rPr>
                  <a:t>Droplet</a:t>
                </a:r>
                <a:r>
                  <a:rPr lang="de-DE" sz="2800" b="1" dirty="0">
                    <a:solidFill>
                      <a:schemeClr val="bg1"/>
                    </a:solidFill>
                  </a:rPr>
                  <a:t> Volume: 		V  	</a:t>
                </a:r>
                <a:r>
                  <a:rPr lang="de-DE" sz="28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 	V / (</a:t>
                </a:r>
                <a14:m>
                  <m:oMath xmlns:m="http://schemas.openxmlformats.org/officeDocument/2006/math">
                    <m:r>
                      <a:rPr lang="de-DE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𝝅</m:t>
                    </m:r>
                    <m:sSup>
                      <m:sSupPr>
                        <m:ctrlPr>
                          <a:rPr lang="de-DE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𝑫</m:t>
                        </m:r>
                      </m:e>
                      <m:sup>
                        <m:r>
                          <a:rPr lang="de-DE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e-DE" sz="2800" b="1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endParaRPr lang="de-DE" sz="2800" b="1" dirty="0">
                  <a:solidFill>
                    <a:schemeClr val="bg1"/>
                  </a:solidFill>
                  <a:sym typeface="Wingdings" panose="05000000000000000000" pitchFamily="2" charset="2"/>
                </a:endParaRPr>
              </a:p>
              <a:p>
                <a:r>
                  <a:rPr lang="de-DE" sz="3200" b="1" dirty="0" err="1">
                    <a:solidFill>
                      <a:schemeClr val="bg1"/>
                    </a:solidFill>
                  </a:rPr>
                  <a:t>If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Adhesion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Force was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independent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of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scale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, </a:t>
                </a:r>
              </a:p>
              <a:p>
                <a:r>
                  <a:rPr lang="de-DE" sz="3200" b="1" dirty="0">
                    <a:solidFill>
                      <a:schemeClr val="bg1"/>
                    </a:solidFill>
                  </a:rPr>
                  <a:t>Then all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cylinders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should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behave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 the same after </a:t>
                </a:r>
                <a:r>
                  <a:rPr lang="de-DE" sz="3200" b="1" dirty="0" err="1">
                    <a:solidFill>
                      <a:schemeClr val="bg1"/>
                    </a:solidFill>
                  </a:rPr>
                  <a:t>normalization</a:t>
                </a:r>
                <a:r>
                  <a:rPr lang="de-DE" sz="3200" b="1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de-DE" sz="2800" b="1" dirty="0">
                  <a:solidFill>
                    <a:schemeClr val="bg1"/>
                  </a:solidFill>
                </a:endParaRPr>
              </a:p>
              <a:p>
                <a:endParaRPr lang="de-DE" sz="28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4AB1A14-B2EF-FD87-59A3-655038DC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7" y="2855169"/>
                <a:ext cx="11048999" cy="3672287"/>
              </a:xfrm>
              <a:prstGeom prst="rect">
                <a:avLst/>
              </a:prstGeom>
              <a:blipFill>
                <a:blip r:embed="rId3"/>
                <a:stretch>
                  <a:fillRect l="-1435" t="-19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62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CBF6E-D3E3-54D0-7B34-F33E9FCC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C4CC167-16E8-1B8B-EBAD-B3F771B52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FA493F-503E-1FFA-4F90-52710B08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6CF8018-93A0-DBA3-8162-5F0AA30A4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C508943-2AD1-2AD0-AA02-8774F128E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163582D-B05D-C593-EED0-B09AB0CDE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27888D-7A08-EC36-7B1F-13083E4B0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8D01B49-1228-8AB5-73F8-175567E29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B1470A5-CF12-3FF6-E324-B85952608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51C2681-E92F-2C96-DB9D-C14781489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49973C4-192E-4FE9-2E58-2EAA4FC2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016" y="279837"/>
            <a:ext cx="9702917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Comparison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(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Normalized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625F9BB-0483-194F-FDF0-8AE565937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1A0199-A888-651C-1E67-4BD259D2D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88EBBE-38E6-D681-983D-7C9CF8F2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1AB3025-B57D-D1C2-6B53-40BA79DF2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BF69520-57F5-D6D6-9970-1FF1643C4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AEA59EA-9120-11FE-930E-7D49299A6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E0D2E32-E22E-C479-7F37-D087BE8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C72F78E-BB00-99AD-D585-54CE6C7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8036969-7BF8-A2B3-7E4F-CFAE312D1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0D8C808-53AF-9642-915B-14FF0D759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71A34F-FEDC-FB56-6F2E-9D5D93430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803F9B6-1E77-9B56-4032-B756BD597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A7C43CAA-FFE3-182C-8C32-D99030EF4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1597820"/>
            <a:ext cx="6007608" cy="436168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B0F658E-E793-07A3-0248-D08720E5C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5" y="1594772"/>
            <a:ext cx="6007608" cy="436778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98F0871-BD6A-4B71-FB6B-307B63C89500}"/>
              </a:ext>
            </a:extLst>
          </p:cNvPr>
          <p:cNvSpPr txBox="1"/>
          <p:nvPr/>
        </p:nvSpPr>
        <p:spPr>
          <a:xfrm>
            <a:off x="4491564" y="6111826"/>
            <a:ext cx="1104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800" b="1" dirty="0">
                <a:solidFill>
                  <a:schemeClr val="bg1"/>
                </a:solidFill>
              </a:rPr>
              <a:t>Not </a:t>
            </a:r>
            <a:r>
              <a:rPr lang="de-DE" sz="2800" b="1" dirty="0" err="1">
                <a:solidFill>
                  <a:schemeClr val="bg1"/>
                </a:solidFill>
              </a:rPr>
              <a:t>quite</a:t>
            </a:r>
            <a:r>
              <a:rPr lang="de-DE" sz="2800" b="1" dirty="0">
                <a:solidFill>
                  <a:schemeClr val="bg1"/>
                </a:solidFill>
              </a:rPr>
              <a:t> the </a:t>
            </a:r>
            <a:r>
              <a:rPr lang="de-DE" sz="2800" b="1" dirty="0" err="1">
                <a:solidFill>
                  <a:schemeClr val="bg1"/>
                </a:solidFill>
              </a:rPr>
              <a:t>case</a:t>
            </a:r>
            <a:r>
              <a:rPr lang="de-DE" sz="28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97523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Breitbild</PresentationFormat>
  <Paragraphs>22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</vt:lpstr>
      <vt:lpstr>Droplets on Cylindrical PMMA Surfaces</vt:lpstr>
      <vt:lpstr>Contact Length Measurement (4mm)</vt:lpstr>
      <vt:lpstr>Contact Length Measurement (10mm)</vt:lpstr>
      <vt:lpstr>Contact Length Measurement (2mm)</vt:lpstr>
      <vt:lpstr>Comparison</vt:lpstr>
      <vt:lpstr>How to compare D = 2mm / 4mm / 10mm</vt:lpstr>
      <vt:lpstr>Comparison (Normalized)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Jasper.Reinhardt</dc:creator>
  <cp:lastModifiedBy>Jasper.Reinhardt</cp:lastModifiedBy>
  <cp:revision>8</cp:revision>
  <dcterms:created xsi:type="dcterms:W3CDTF">2026-08-20T23:10:51Z</dcterms:created>
  <dcterms:modified xsi:type="dcterms:W3CDTF">2026-09-04T05:43:42Z</dcterms:modified>
</cp:coreProperties>
</file>