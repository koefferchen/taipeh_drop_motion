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6BC03-AFB0-4218-B7C3-94E9336FD6CE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AC04E-6E8B-4E05-987A-8481E20143D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00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337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ABEE7-BA63-C488-135D-408F98C1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D7CE139-A40B-E6FA-E7AE-95326FE9C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7AE3126-130D-1465-7086-0303C025C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B35C96-1CB2-E3A0-82A7-97935A744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3327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BE76F-9D87-20A7-6772-AEAD2FC7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5C057C7-CA87-FBE7-42C1-E5FB6ADE0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59EAAB5-8883-E1F4-84C1-92E55D4CD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E4C2E8-4F62-4DD9-FE49-9AE6E5F1B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178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FE0335-572F-0A00-2D57-497244C99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05ABBC-E1D2-7421-A72B-983F0C444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5A4262-1068-5CD9-01E8-45F01A0F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3B067C-E428-BC7D-CCB9-00873DFA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63236C-2F4F-0D1F-05F1-2645080D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117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940C8-F0C4-81B4-13DE-47162368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053B72-18C7-D383-DD06-8349EBCE6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BB260-3AD2-1625-CD6E-7294254F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5666E2-F791-ED6A-DC00-3BF0CC99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03BED6-5440-9C7B-AF7A-E6B30920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77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172F5-F24A-BB59-957C-BA1B73C6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D6BD4E-B64C-4CDC-B4B9-2B9E3CBAD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D668E7-8544-BE5C-A205-A74F0023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3CC280-D307-6A8B-DCB3-31A952EF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228ACE-6F76-5404-C266-16FE6AE5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87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81AB04-1F4E-87D2-EC14-9C8DC89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9B7D30-09ED-213A-0039-7A2F3ECD5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FE9525-77B2-FC2E-5281-4EF329F2F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6F6683-9465-C036-A458-5FE53E24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5DA581-6D49-51F3-C123-C9506D3BB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20E629-7318-772B-BE23-044419B7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665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C00F9-824A-8C3B-97A8-D6920D6D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8BFA56-09A6-B853-130B-A1BC2C8C4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25D14B-3150-0F17-D71D-04538CDFF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74D8C16-A063-C2AF-DCC9-87C71C476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83E42D4-58EE-4016-8899-DEB442BD4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6041BA9-85C6-E740-970D-4CDD388E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5AB42F9-F2D7-5C71-C856-7F7B0370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98EDC9-3F68-F205-832D-FDD18AB2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023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059632-C3E8-5D53-9F0A-B3D04152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FCB2D-38A5-6D43-60E3-E79FFBB9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EF757D-0D6B-E35F-A923-6383422F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ED9C64-A13B-2C5E-1DA4-3BC6C48E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91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78B12A4-4383-5E87-8BE6-A3C173A0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5788AC-2D27-9CE8-10DD-36878AE1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62D4B5-5E96-4811-0CB0-59B8429A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04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D092B-FD11-B66A-3026-8D0197BD4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51A020-8BE3-8BBE-D7A9-589ADB6E6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C7A947-0687-54D9-35EA-EFABBCC2A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133EB2-6E09-43FB-8EEB-DBBBF708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5933C7-0244-ADD7-25AE-72845C1E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E4AAEE-A3FA-71AD-0BB8-D1D9679C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92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97CB1-0E56-DBE9-E268-9B65D81B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E8B5383-DAE6-0C52-00DE-6682ADFC8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DC1FD7-C208-B7E8-E944-10FBCF001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9B4E86-0661-4A30-82EF-856CAD56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5641E9-23B2-C068-F0DA-3A731DEA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E3CD7B-4041-98AC-C37F-392C913A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292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2BFA0-941A-9615-635E-D0D61070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D8370C-6C3B-8C00-043C-2FD6B516D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8D19F5-2C62-BACF-4BC1-CD5A66C6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49EA09-3F07-276F-1A5C-F747D30B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9B86DB-34E7-26D3-E27F-E544EF14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243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EFFE3BD-2896-9D6D-8E3C-E0DD37B1F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D5A73C-8CD4-5DBD-4A97-2A3D194E8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07B79E-7CD8-DB0A-09C6-4F54E6A8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22E43-4B79-78B8-4708-1D7E202F3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0997AA-979D-A32C-E2CF-FD5043DF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118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003B124-0676-8427-392B-BD466473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13945A-1D0A-F0B4-B495-72D0AE9E3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DCE5F7-734C-621E-97C5-26945C5D1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E92E4-497B-4963-9461-9C5AC1BD3FEB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6E1CC7-9F55-3847-B927-062753F74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C4878D-2BE9-239A-2DEA-F4FA5E119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716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Wassertropfen">
            <a:extLst>
              <a:ext uri="{FF2B5EF4-FFF2-40B4-BE49-F238E27FC236}">
                <a16:creationId xmlns:a16="http://schemas.microsoft.com/office/drawing/2014/main" id="{2CF23648-AED1-77BB-9BAA-2AE4FEFA2E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t="23623" b="1377"/>
          <a:stretch>
            <a:fillRect/>
          </a:stretch>
        </p:blipFill>
        <p:spPr>
          <a:xfrm>
            <a:off x="782669" y="29548"/>
            <a:ext cx="10691280" cy="601384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8FB54E4-D7FA-CD27-237A-2701A84A6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8173" y="630936"/>
            <a:ext cx="7315200" cy="2702018"/>
          </a:xfrm>
          <a:noFill/>
        </p:spPr>
        <p:txBody>
          <a:bodyPr anchor="b">
            <a:normAutofit/>
          </a:bodyPr>
          <a:lstStyle/>
          <a:p>
            <a:r>
              <a:rPr lang="de-DE" sz="4800" dirty="0" err="1">
                <a:solidFill>
                  <a:srgbClr val="FFFFFF"/>
                </a:solidFill>
              </a:rPr>
              <a:t>Droplets</a:t>
            </a:r>
            <a:r>
              <a:rPr lang="de-DE" sz="4800" dirty="0">
                <a:solidFill>
                  <a:srgbClr val="FFFFFF"/>
                </a:solidFill>
              </a:rPr>
              <a:t> on </a:t>
            </a:r>
            <a:r>
              <a:rPr lang="de-DE" sz="4800" dirty="0" err="1">
                <a:solidFill>
                  <a:srgbClr val="FFFFFF"/>
                </a:solidFill>
              </a:rPr>
              <a:t>Cylindrical</a:t>
            </a:r>
            <a:r>
              <a:rPr lang="de-DE" sz="4800" dirty="0">
                <a:solidFill>
                  <a:srgbClr val="FFFFFF"/>
                </a:solidFill>
              </a:rPr>
              <a:t> PMMA </a:t>
            </a:r>
            <a:r>
              <a:rPr lang="de-DE" sz="4800" dirty="0" err="1">
                <a:solidFill>
                  <a:srgbClr val="FFFFFF"/>
                </a:solidFill>
              </a:rPr>
              <a:t>Surfaces</a:t>
            </a:r>
            <a:endParaRPr lang="de-DE" sz="480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34F6-2CE2-AB1D-1F76-01ECF26B0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8174" y="3427487"/>
            <a:ext cx="7315200" cy="2615906"/>
          </a:xfrm>
          <a:noFill/>
        </p:spPr>
        <p:txBody>
          <a:bodyPr anchor="t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Noah J. R.</a:t>
            </a:r>
          </a:p>
        </p:txBody>
      </p:sp>
    </p:spTree>
    <p:extLst>
      <p:ext uri="{BB962C8B-B14F-4D97-AF65-F5344CB8AC3E}">
        <p14:creationId xmlns:p14="http://schemas.microsoft.com/office/powerpoint/2010/main" val="405461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212EC-8BB5-4AFE-1477-F5C663CD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FBF61D39-D3C0-F0D5-7E07-F93865DDB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F060640-4D59-6D2B-D557-E39E8A4B6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DB7D76D-1469-34C8-4A9D-4C0E73AFC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280B408-CF71-11D4-6EDE-775FF81E1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27D922D-FEF5-E181-579F-693F6C9D8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E57E58-1FD7-C6D9-CE9F-345D77C51F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B6381BE-C596-E70A-A605-AEC46294D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9C55CCE-EDCB-D086-E80B-2E447BD4D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65F5ACA-F6E2-1900-40A6-4AFBF1AC2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9436985-8BE6-1DA5-7F52-59ABF68D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16" y="587409"/>
            <a:ext cx="9259719" cy="975028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</a:rPr>
              <a:t>2ul 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(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drop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size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 </a:t>
            </a:r>
            <a:r>
              <a:rPr lang="de-DE" sz="4800" dirty="0">
                <a:solidFill>
                  <a:schemeClr val="bg1"/>
                </a:solidFill>
              </a:rPr>
              <a:t>on 2mm 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(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diameter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551962F-360A-6693-E72F-38D61FAC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51C39AD-CF5D-877F-C319-1E0F73F4B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ACBE243-33D0-0556-6DA3-8E1C546AC7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E38AAF9-2C52-5061-BD8C-FAA98A624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611C8AD-9C12-9A82-EE9F-765D151729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9E86CEE-E8FF-53CA-6148-C5DBDF0BF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6822EF95-7457-68B5-AAD8-151ECC1A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C54C36F-104A-42FA-A7BA-FF9013C9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8A93DB8-9A50-76AE-EFE3-AF901885E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7654A2F-DB14-E6C2-F4D2-4BA8F899E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3795E22-1D5E-0526-BC77-6AC47EB8E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75C39DE-7D09-F1EC-5620-06703DBFA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1F63982-CF98-EE72-32A7-51E098ECF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96" y="1797217"/>
            <a:ext cx="3669201" cy="3638878"/>
          </a:xfrm>
          <a:prstGeom prst="rect">
            <a:avLst/>
          </a:prstGeom>
          <a:noFill/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71DB39D-53FB-CDC8-2B4A-8D0FBD5E9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128" y="1824058"/>
            <a:ext cx="3669201" cy="363887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9A5D6A0-3E01-0D9C-98A6-9DCF727CF4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51" y="1832267"/>
            <a:ext cx="3660925" cy="363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B2207-CC34-5885-104E-9E4696F6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6E02DA6-3A36-132D-5F86-4D1E137D6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5E0DC18-1653-3516-9276-7FB17E2F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55D1A26-6882-A38B-C1B8-B528D3C59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05899D4-694C-CB4E-E92B-C1CE812E2E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49652B7-BE70-1B53-6D8A-88DF30CD1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046C6D0-FAEC-00FB-C57B-507786EF8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B269A38-C69E-42C8-24AC-5FC43B330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4301CCF-873D-4B14-8394-BF9D7C38D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97453E7-5DC6-5AD4-D29A-0E8C1146C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09731DA-C236-0125-D386-CE4090A3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6875" y="630935"/>
            <a:ext cx="7315200" cy="975028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</a:rPr>
              <a:t>2ul on 4mm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8256188-6869-D2D2-8833-F855342A0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281D7D8-3718-6D05-CEAA-E3F643F88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BD0BC74-FA64-4823-FF45-B55C7A280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6D5A7DE-B4A8-527B-2682-F69E959E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DE247C9-EB66-5C09-EB1E-A0EFE970A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20D7182-7477-52BA-43F7-DD728F10A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2BF1A6F6-0A89-05DE-A227-E72041055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AB00B98-DCA0-A6E7-63BA-3814CE50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96DE10A-4F2C-4EE8-E88A-8DB493F1A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A7FB98C-918C-1E78-8492-620A12B64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8FB54DD-1FAA-6272-E28F-24C4C7328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D1DEA71-2003-3651-DB23-B87D83411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EEC4E5ED-DE97-6B53-6864-90FFDC474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783" y="1953400"/>
            <a:ext cx="3679760" cy="364934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B06011E-D692-FF01-CD1A-5E6A749D5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747" y="1953400"/>
            <a:ext cx="3681143" cy="365072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38A2A83-DB76-1270-C6C3-BD3AAB159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94" y="1956526"/>
            <a:ext cx="3676608" cy="364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1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91B9C-4585-5678-AE60-C68CD3FA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58A000B-BCAB-B0CB-70F2-9552BC166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F90BDC-F4C9-566D-0B08-0938D4A19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8E79404-4539-E292-F3E2-4C98F5923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D14CF93-674A-9F89-3D11-D9E5A5C60B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B462A93-1450-B424-0E72-54A4D15488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950560B-3D73-866A-092F-A4E4F891A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C9A2B25-AF87-7301-2830-2C267CD703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A42F062-5C1A-8FE3-64A8-583F2A132F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5E80DDB-CFD5-ADDB-8091-D7F4A30E7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D0AD922-7185-3D0F-EA17-583B36B06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6875" y="630935"/>
            <a:ext cx="7315200" cy="975028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</a:rPr>
              <a:t>3ul on 2mm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0A51BC4-AB91-807C-48A2-FCB59ADCE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D6E15C1-5FCB-D9DA-7171-B85F1FF0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7032EC1-FC26-E21C-15EA-8C9F541C7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002DEB8-8444-08BC-DA2A-0D1295460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D0EF859-CE91-A622-D568-756412EC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F003561-E390-20C1-C4AB-ADB72C332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6B4FD830-8B93-799B-F784-0FFF68288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ECD74A2-F3BE-C68A-7E59-A4AF48F17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0C41105-5E32-B079-64B5-5B3D0B9A6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8454AE0-5558-FFCD-5CBA-274C40F43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CBA22D2-3E3A-255B-855B-EF86DFB8B7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A859CF7-BEB9-9DD9-D218-D10CD62C5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Grafik 24">
            <a:extLst>
              <a:ext uri="{FF2B5EF4-FFF2-40B4-BE49-F238E27FC236}">
                <a16:creationId xmlns:a16="http://schemas.microsoft.com/office/drawing/2014/main" id="{DEDB5274-CC0E-9CF3-8F95-FE42F8209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260" y="1891725"/>
            <a:ext cx="3800519" cy="3769110"/>
          </a:xfrm>
          <a:prstGeom prst="rect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806A5971-1B7F-E81B-7C5A-1369FD20B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734" y="1929613"/>
            <a:ext cx="3762316" cy="3731222"/>
          </a:xfrm>
          <a:prstGeom prst="rect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F9B6BE41-58F1-85E0-D778-6EB54E55C9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83" y="1919780"/>
            <a:ext cx="3762315" cy="3731221"/>
          </a:xfrm>
          <a:prstGeom prst="rect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3361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1ADF6-9594-559A-EDA8-C60E3569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A96CFD5-1DE2-1003-A472-3634DCC32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79CFC8-89EF-CDA9-161A-BA4FB9847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DCBC67C-A197-D355-68E1-280058926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61E04B0-53DE-DBA5-A5E7-432B77734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8F1E1C8-AF7F-7E61-B61A-8C84E6BAC7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44F3AF3-4E77-C8AE-D92C-8B6642A96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F153596-4E60-4169-ABD1-500A68CF9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F6B1ABB-88DF-29FB-D16E-B0E10192C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2C35749-74A8-78C1-CF83-568039812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609D2575-877C-8194-41A8-96806C973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6875" y="630935"/>
            <a:ext cx="7315200" cy="975028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</a:rPr>
              <a:t>3ul on 4mm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902B0CB-6143-12DF-7EEE-88F01FF1B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6EDCD35-715A-640D-3BB6-7BB291374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F0E3137-7E1E-19B8-2F05-4085F7D0F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BABA2A2-22E3-D0E7-5324-92EEA65E4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0CBD7F4-EC8C-19E1-A8D9-42D7D7938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225D4F8-696D-D369-879F-1BE6F5DBB2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4544212C-AD54-4855-A643-9A6153E5C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01F8E0D-61E3-CDF4-A669-70586C189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70F2001-5E37-8741-8CBE-9AF53BCEA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7C86AAF-5569-A24F-8F7B-A97FD6E71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AD9552C-6207-3E79-9C93-4C4E1B2397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23ABD27-D665-4873-8A66-24F5CD2192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Grafik 9">
            <a:extLst>
              <a:ext uri="{FF2B5EF4-FFF2-40B4-BE49-F238E27FC236}">
                <a16:creationId xmlns:a16="http://schemas.microsoft.com/office/drawing/2014/main" id="{E80DCADD-466F-D659-4056-3AF8EE124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910" y="1886868"/>
            <a:ext cx="3716269" cy="3685556"/>
          </a:xfrm>
          <a:prstGeom prst="rect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9B81D21-7C37-C458-DEC6-8FF474C437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110" y="1886868"/>
            <a:ext cx="3749732" cy="3718742"/>
          </a:xfrm>
          <a:prstGeom prst="rect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2E79F47-35AF-1064-240F-BEEA27967C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40" y="1893042"/>
            <a:ext cx="3703818" cy="367320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DC06482-7EC1-1E55-6C76-5FABCD4C18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57" y="1898918"/>
            <a:ext cx="3703818" cy="3673208"/>
          </a:xfrm>
          <a:prstGeom prst="rect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0558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E8900-2F5B-DFC1-A4A8-47E4EEF8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6E0D313-3412-E0B2-0C97-AF57D77FB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12A86BA-A811-06C6-8B75-04839D8BF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184FA50-BB0A-0FCC-24A4-7A54145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31F8ABC-9CC3-D1E6-DDE0-EBA579825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4D7CD96-5367-CEFE-574E-0BA583350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D12478F-CFFD-D320-C62C-8EFE010D9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173AB5E-13F1-15D7-D06E-DB5563EA7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B67C86A-AD89-6139-5922-F725E69C8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AE93C96-93AC-43FF-4BE4-631DF0ED0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A6489AC6-77A2-C4B6-FDC7-F6F0BA6E0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5D3C1B7-3801-5E29-E145-4CE6933E4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3E40381-7474-7570-C40A-220B5CD96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4F6B682-31A9-3603-563B-9B9E5DD11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CCA74E2-E15F-654F-53F1-750479653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B4B3DC1-F545-8933-2423-01E6D837D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E56352AD-92CE-D458-A569-5EA00D77A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6CF162E-5C11-14CE-BD30-CDEEDC488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E93EA48-457C-F64A-6E50-19D8CE4A2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55B5B59-C813-B6E6-C6E6-587BC4AC5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EE948BE-838F-2138-EF31-D19079EB7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BD3601D-3C70-6360-01D5-0461B98EC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3100458A-18F7-D819-35C0-82D31D513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85" y="1346344"/>
            <a:ext cx="1751862" cy="1737384"/>
          </a:xfrm>
          <a:prstGeom prst="rect">
            <a:avLst/>
          </a:prstGeom>
          <a:noFill/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7F124F2-9CEE-5601-2569-0F61FFEAD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315" y="1397715"/>
            <a:ext cx="1751862" cy="173738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0069DE3-7704-60F4-F52D-E9164844D7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49" y="1382030"/>
            <a:ext cx="1747909" cy="1733464"/>
          </a:xfrm>
          <a:prstGeom prst="rect">
            <a:avLst/>
          </a:prstGeom>
        </p:spPr>
      </p:pic>
      <p:pic>
        <p:nvPicPr>
          <p:cNvPr id="15" name="Inhaltsplatzhalter 7">
            <a:extLst>
              <a:ext uri="{FF2B5EF4-FFF2-40B4-BE49-F238E27FC236}">
                <a16:creationId xmlns:a16="http://schemas.microsoft.com/office/drawing/2014/main" id="{9978B835-12F8-AD84-8529-5736CEC14D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882" y="4349943"/>
            <a:ext cx="1867476" cy="185204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D4003ED-CCE5-0693-6724-5CD06CDB4F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677" y="4349595"/>
            <a:ext cx="1868178" cy="185273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215E0136-A020-7399-EFE4-5F8C37EA62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3" y="4352722"/>
            <a:ext cx="1865876" cy="1850456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B5AA662-B5F1-A222-A50C-6F4B1A5220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882" y="1340386"/>
            <a:ext cx="1867476" cy="1852042"/>
          </a:xfrm>
          <a:prstGeom prst="rect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0219EB1A-4987-79E7-2244-FEEF5F699D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355" y="1378274"/>
            <a:ext cx="1848704" cy="1833425"/>
          </a:xfrm>
          <a:prstGeom prst="rect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BDECCFCC-D192-10CC-6D01-C686BFD95A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980" y="1328150"/>
            <a:ext cx="1848703" cy="1833424"/>
          </a:xfrm>
          <a:prstGeom prst="rect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193C6487-CF17-4C1E-5353-06B8EBFF562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803" y="4344623"/>
            <a:ext cx="1955828" cy="1939663"/>
          </a:xfrm>
          <a:prstGeom prst="rect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6DBD1DD-EB9E-2686-2B71-6F10E6AAC7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57" y="4364997"/>
            <a:ext cx="1973439" cy="1957129"/>
          </a:xfrm>
          <a:prstGeom prst="rect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63B4F94A-3FAE-68FB-9C6E-F01E9B8EB75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847" y="4312710"/>
            <a:ext cx="1949275" cy="1933164"/>
          </a:xfrm>
          <a:prstGeom prst="rect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69859BD0-D123-4BA1-FFA4-2ECDEB1710C9}"/>
              </a:ext>
            </a:extLst>
          </p:cNvPr>
          <p:cNvSpPr txBox="1"/>
          <p:nvPr/>
        </p:nvSpPr>
        <p:spPr>
          <a:xfrm>
            <a:off x="403412" y="500580"/>
            <a:ext cx="2052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On 2mm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AF7063C1-62B4-072A-9C62-E4EFF48C7A5C}"/>
              </a:ext>
            </a:extLst>
          </p:cNvPr>
          <p:cNvSpPr txBox="1"/>
          <p:nvPr/>
        </p:nvSpPr>
        <p:spPr>
          <a:xfrm>
            <a:off x="344399" y="3545567"/>
            <a:ext cx="2052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On 4mm</a:t>
            </a:r>
          </a:p>
        </p:txBody>
      </p:sp>
    </p:spTree>
    <p:extLst>
      <p:ext uri="{BB962C8B-B14F-4D97-AF65-F5344CB8AC3E}">
        <p14:creationId xmlns:p14="http://schemas.microsoft.com/office/powerpoint/2010/main" val="2285157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Breitbild</PresentationFormat>
  <Paragraphs>11</Paragraphs>
  <Slides>6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Droplets on Cylindrical PMMA Surfaces</vt:lpstr>
      <vt:lpstr>2ul (drop size) on 2mm (diameter)</vt:lpstr>
      <vt:lpstr>2ul on 4mm</vt:lpstr>
      <vt:lpstr>3ul on 2mm</vt:lpstr>
      <vt:lpstr>3ul on 4mm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Jasper.Reinhardt</dc:creator>
  <cp:lastModifiedBy>Jasper.Reinhardt</cp:lastModifiedBy>
  <cp:revision>3</cp:revision>
  <dcterms:created xsi:type="dcterms:W3CDTF">2026-08-20T23:10:51Z</dcterms:created>
  <dcterms:modified xsi:type="dcterms:W3CDTF">2026-08-21T01:10:45Z</dcterms:modified>
</cp:coreProperties>
</file>