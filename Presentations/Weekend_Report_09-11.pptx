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9" r:id="rId4"/>
    <p:sldId id="273" r:id="rId5"/>
    <p:sldId id="270" r:id="rId6"/>
    <p:sldId id="271" r:id="rId7"/>
    <p:sldId id="27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484" autoAdjust="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6BC03-AFB0-4218-B7C3-94E9336FD6CE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AC04E-6E8B-4E05-987A-8481E20143D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00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1034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0254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FE602-3687-E263-F4FC-503D8BBB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09DE1D-739A-F51F-F243-C72F90559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8C360C4-8761-3913-9FF5-429BC5766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9C95F9-AB82-5534-55CE-F54167028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7866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67800-A494-ECD3-02B6-6F065954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A0F8558-A3DE-7A94-C90F-101841AA5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D448D2E-2802-3906-D16B-A20E4D683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E337A0-CE08-E250-D06D-7CA7917E9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079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7DCE2-5A92-1B3D-2779-76706443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64F7A57-5B5B-93E1-74A0-D2B44BBC4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7368070-9169-CA86-578C-946D853F9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8DCAE6-3AF9-F3B4-4E23-3ABC60844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139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98AF-93BC-2EB4-4247-E032EEFF7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331CC10-1325-88BE-4050-2B4548E93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B99EAED-4EF9-C7C8-0EC0-7FFD9B7FF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76F168-BF7E-B393-10FC-C376FABBE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35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21C5C-D025-275C-1D94-868650EB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143E015-E42A-55DC-2BE0-58C2F4CE6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757372D-FDD1-C390-BCA1-FB54B88C9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A78DF6-0D4E-7FC0-528C-1DCA356C9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AC04E-6E8B-4E05-987A-8481E20143D9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804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FE0335-572F-0A00-2D57-497244C99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05ABBC-E1D2-7421-A72B-983F0C444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5A4262-1068-5CD9-01E8-45F01A0F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3B067C-E428-BC7D-CCB9-00873DFA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63236C-2F4F-0D1F-05F1-2645080D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117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940C8-F0C4-81B4-13DE-47162368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053B72-18C7-D383-DD06-8349EBCE6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BB260-3AD2-1625-CD6E-7294254F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5666E2-F791-ED6A-DC00-3BF0CC99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03BED6-5440-9C7B-AF7A-E6B30920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77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172F5-F24A-BB59-957C-BA1B73C6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D6BD4E-B64C-4CDC-B4B9-2B9E3CBAD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D668E7-8544-BE5C-A205-A74F0023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3CC280-D307-6A8B-DCB3-31A952EF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228ACE-6F76-5404-C266-16FE6AE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87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1AB04-1F4E-87D2-EC14-9C8DC89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9B7D30-09ED-213A-0039-7A2F3ECD5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FE9525-77B2-FC2E-5281-4EF329F2F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6F6683-9465-C036-A458-5FE53E24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5DA581-6D49-51F3-C123-C9506D3BB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20E629-7318-772B-BE23-044419B7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65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C00F9-824A-8C3B-97A8-D6920D6D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8BFA56-09A6-B853-130B-A1BC2C8C4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25D14B-3150-0F17-D71D-04538CDFF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74D8C16-A063-C2AF-DCC9-87C71C476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83E42D4-58EE-4016-8899-DEB442BD4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6041BA9-85C6-E740-970D-4CDD388E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5AB42F9-F2D7-5C71-C856-7F7B0370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98EDC9-3F68-F205-832D-FDD18AB2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23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059632-C3E8-5D53-9F0A-B3D04152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FCB2D-38A5-6D43-60E3-E79FFBB9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EF757D-0D6B-E35F-A923-6383422F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ED9C64-A13B-2C5E-1DA4-3BC6C48E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91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8B12A4-4383-5E87-8BE6-A3C173A0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5788AC-2D27-9CE8-10DD-36878AE1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62D4B5-5E96-4811-0CB0-59B8429A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04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D092B-FD11-B66A-3026-8D0197BD4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51A020-8BE3-8BBE-D7A9-589ADB6E6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C7A947-0687-54D9-35EA-EFABBCC2A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133EB2-6E09-43FB-8EEB-DBBBF708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5933C7-0244-ADD7-25AE-72845C1E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E4AAEE-A3FA-71AD-0BB8-D1D9679C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92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97CB1-0E56-DBE9-E268-9B65D81B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E8B5383-DAE6-0C52-00DE-6682ADFC8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DC1FD7-C208-B7E8-E944-10FBCF001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9B4E86-0661-4A30-82EF-856CAD56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5641E9-23B2-C068-F0DA-3A731DEA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E3CD7B-4041-98AC-C37F-392C913A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292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2BFA0-941A-9615-635E-D0D61070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D8370C-6C3B-8C00-043C-2FD6B516D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8D19F5-2C62-BACF-4BC1-CD5A66C6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49EA09-3F07-276F-1A5C-F747D30B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9B86DB-34E7-26D3-E27F-E544EF14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243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EFFE3BD-2896-9D6D-8E3C-E0DD37B1F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D5A73C-8CD4-5DBD-4A97-2A3D194E8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07B79E-7CD8-DB0A-09C6-4F54E6A8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22E43-4B79-78B8-4708-1D7E202F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0997AA-979D-A32C-E2CF-FD5043DF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118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003B124-0676-8427-392B-BD466473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13945A-1D0A-F0B4-B495-72D0AE9E3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DCE5F7-734C-621E-97C5-26945C5D1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E92E4-497B-4963-9461-9C5AC1BD3FEB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6E1CC7-9F55-3847-B927-062753F74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C4878D-2BE9-239A-2DEA-F4FA5E119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16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Wassertropfen">
            <a:extLst>
              <a:ext uri="{FF2B5EF4-FFF2-40B4-BE49-F238E27FC236}">
                <a16:creationId xmlns:a16="http://schemas.microsoft.com/office/drawing/2014/main" id="{2CF23648-AED1-77BB-9BAA-2AE4FEFA2E3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t="23623" b="1377"/>
          <a:stretch>
            <a:fillRect/>
          </a:stretch>
        </p:blipFill>
        <p:spPr>
          <a:xfrm>
            <a:off x="782669" y="29548"/>
            <a:ext cx="10691280" cy="601384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8FB54E4-D7FA-CD27-237A-2701A84A6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8173" y="630936"/>
            <a:ext cx="7315200" cy="2702018"/>
          </a:xfrm>
          <a:noFill/>
        </p:spPr>
        <p:txBody>
          <a:bodyPr anchor="b">
            <a:normAutofit/>
          </a:bodyPr>
          <a:lstStyle/>
          <a:p>
            <a:r>
              <a:rPr lang="de-DE" sz="4800" dirty="0" err="1">
                <a:solidFill>
                  <a:srgbClr val="FFFFFF"/>
                </a:solidFill>
              </a:rPr>
              <a:t>Droplets</a:t>
            </a:r>
            <a:r>
              <a:rPr lang="de-DE" sz="4800" dirty="0">
                <a:solidFill>
                  <a:srgbClr val="FFFFFF"/>
                </a:solidFill>
              </a:rPr>
              <a:t> on </a:t>
            </a:r>
            <a:r>
              <a:rPr lang="de-DE" sz="4800" dirty="0" err="1">
                <a:solidFill>
                  <a:srgbClr val="FFFFFF"/>
                </a:solidFill>
              </a:rPr>
              <a:t>Cylindrical</a:t>
            </a:r>
            <a:r>
              <a:rPr lang="de-DE" sz="4800" dirty="0">
                <a:solidFill>
                  <a:srgbClr val="FFFFFF"/>
                </a:solidFill>
              </a:rPr>
              <a:t> PMMA </a:t>
            </a:r>
            <a:r>
              <a:rPr lang="de-DE" sz="4800" dirty="0" err="1">
                <a:solidFill>
                  <a:srgbClr val="FFFFFF"/>
                </a:solidFill>
              </a:rPr>
              <a:t>Surfaces</a:t>
            </a:r>
            <a:endParaRPr lang="de-DE" sz="48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34F6-2CE2-AB1D-1F76-01ECF26B0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8174" y="3427487"/>
            <a:ext cx="7315200" cy="2615906"/>
          </a:xfrm>
          <a:noFill/>
        </p:spPr>
        <p:txBody>
          <a:bodyPr anchor="t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Noah J. R.</a:t>
            </a:r>
          </a:p>
        </p:txBody>
      </p:sp>
    </p:spTree>
    <p:extLst>
      <p:ext uri="{BB962C8B-B14F-4D97-AF65-F5344CB8AC3E}">
        <p14:creationId xmlns:p14="http://schemas.microsoft.com/office/powerpoint/2010/main" val="405461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CF3AA-73FE-5455-8079-025602D4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F39E972-6316-B662-0FAC-8D5F79E1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9B3DAF-64DD-4161-063B-58AEFF9CA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8B96FF8-43B1-2A51-7074-278224346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29CAD96-6298-AC6F-1224-EBD75FE9F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2964E16-43F8-920C-F727-D11EA8A05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365F73A-BDDF-EA66-CAF1-B27CAD295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8345763-F265-A508-D8C0-6C17C59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028D0C5-5E52-B35F-5ED0-637F0924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BE29685-CA07-0FD7-C2DD-70D4C75DF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1548F1F-B450-D9DC-CC5B-003A6A2D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786" y="134710"/>
            <a:ext cx="9499219" cy="1176360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Contact 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Lengths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(Refresher)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324961A-B758-DA37-9D27-4068CE5F4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C3BB6EC-E8EA-02B6-ABCC-9A0BC0FB2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F6A1B16-71B2-6DE4-6100-668F51D05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C913328-0C41-DB9A-008A-B9BC805E6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CC6F261-616B-F5A5-DCE4-7D7D0A7E0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C281D54-CAC6-71CE-8289-C7E719D9E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438CF61E-1209-83B3-67CB-BBEE60FE8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547624B-7C49-9C12-5207-7A6EEB8EB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E9F1524-9DA6-3822-E519-9C1299712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9A26864-98A4-A73D-9ED0-38D231962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649B757-6571-9D69-40DD-33F10077D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8F1BA58-4325-C44D-6BAF-F95E6988E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E3D1C2F6-BDF5-DE60-8FF6-BA5353082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17" y="1638215"/>
            <a:ext cx="3741559" cy="281192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422BDE8-36D2-A421-E763-890F930C3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930" y="1638576"/>
            <a:ext cx="3862679" cy="281192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06E1F80-C516-0B67-6F40-E0078C140C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863" y="1653997"/>
            <a:ext cx="3862680" cy="281192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14D8FC74-1505-B8AF-60BE-BE54063CE7E3}"/>
              </a:ext>
            </a:extLst>
          </p:cNvPr>
          <p:cNvSpPr txBox="1"/>
          <p:nvPr/>
        </p:nvSpPr>
        <p:spPr>
          <a:xfrm>
            <a:off x="1030236" y="4802476"/>
            <a:ext cx="233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</a:rPr>
              <a:t>2mm PMMA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63FCF76-902A-9DAB-3A95-BFBB466968CB}"/>
              </a:ext>
            </a:extLst>
          </p:cNvPr>
          <p:cNvSpPr txBox="1"/>
          <p:nvPr/>
        </p:nvSpPr>
        <p:spPr>
          <a:xfrm>
            <a:off x="4898253" y="4739734"/>
            <a:ext cx="233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</a:rPr>
              <a:t>4mm PMMA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EDC6783-CEDA-B1B7-C33B-F44D3EBED617}"/>
              </a:ext>
            </a:extLst>
          </p:cNvPr>
          <p:cNvSpPr txBox="1"/>
          <p:nvPr/>
        </p:nvSpPr>
        <p:spPr>
          <a:xfrm>
            <a:off x="8922261" y="4762678"/>
            <a:ext cx="233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</a:rPr>
              <a:t>10mm PMMA</a:t>
            </a:r>
          </a:p>
        </p:txBody>
      </p:sp>
    </p:spTree>
    <p:extLst>
      <p:ext uri="{BB962C8B-B14F-4D97-AF65-F5344CB8AC3E}">
        <p14:creationId xmlns:p14="http://schemas.microsoft.com/office/powerpoint/2010/main" val="65389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DA351-76BF-09BB-AE8D-3351F75DA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EFB284C-B720-8BE3-E7E1-076C9D422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333555-B8AB-9A9E-73F2-48936FA58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06297DD-265F-7C50-9D15-447C91DC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D450C8C-4DF8-CB1F-BB4D-627DA4B3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3D6B4C8-A856-E076-D5FC-EAAC7A705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B14AE91-9A8C-E784-C0C0-C96F745AC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549EBC6-4623-6960-266B-C0E981118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87C597E-8414-5956-813C-4C6557085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FF16DD5-1056-C7A2-FE34-C17D7BC9D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21C7704-4AB1-E60A-0500-8DF458E6D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786" y="134710"/>
            <a:ext cx="9499219" cy="1176360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Aspect 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Ratios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(Refresher)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989C313-2B74-F711-830B-2A4FEBA05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78D78BD-835E-FB0D-5E47-49FA2C3A6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2C90B98-69E9-95E9-9286-93DA051EA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D5F9F92-A3E2-C769-2958-9FD8D21E2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881F248-F267-1D8F-CAE1-D84757135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3D5B76F-6820-431D-657D-65570638B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FD528B05-A91D-95CC-A30C-A3B46DF43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6B97ECC-D3E1-F259-D5F7-9BB62F49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FB02F11-7700-4300-CB48-2AEB699FD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5C7B221-1E74-AE94-87D8-84310EE4A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C74A7A9-475A-4662-83EF-98814CA7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B13B450-A701-0D72-DBA3-6CD4886C4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CEFDBB1A-5D48-E8E4-5D26-5853B9BD3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17" y="1638215"/>
            <a:ext cx="3741559" cy="281192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778448B-5D33-B347-5D79-70B982326C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930" y="1638576"/>
            <a:ext cx="3862679" cy="281192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CAFB9F8-2E88-7E67-5044-AD05103A90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863" y="1653997"/>
            <a:ext cx="3862680" cy="281192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65C4F56-15A4-2D71-3B4F-58E25F8BFB16}"/>
              </a:ext>
            </a:extLst>
          </p:cNvPr>
          <p:cNvSpPr txBox="1"/>
          <p:nvPr/>
        </p:nvSpPr>
        <p:spPr>
          <a:xfrm>
            <a:off x="1030236" y="4802476"/>
            <a:ext cx="233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</a:rPr>
              <a:t>2mm PMMA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26634AB-2E1A-E082-9E0D-D2FAC73213E0}"/>
              </a:ext>
            </a:extLst>
          </p:cNvPr>
          <p:cNvSpPr txBox="1"/>
          <p:nvPr/>
        </p:nvSpPr>
        <p:spPr>
          <a:xfrm>
            <a:off x="4898253" y="4739734"/>
            <a:ext cx="233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</a:rPr>
              <a:t>4mm PMMA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8C6BA5C-1A4B-8650-2947-7ECAE0AFA2C6}"/>
              </a:ext>
            </a:extLst>
          </p:cNvPr>
          <p:cNvSpPr txBox="1"/>
          <p:nvPr/>
        </p:nvSpPr>
        <p:spPr>
          <a:xfrm>
            <a:off x="8922261" y="4762678"/>
            <a:ext cx="233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</a:rPr>
              <a:t>10mm PMMA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D3829AB-D417-E11A-3440-20D8E4F172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348" y="1666859"/>
            <a:ext cx="3862680" cy="277917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6B0FBCD-F55B-D070-44CF-C1CBC94258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896" y="1642140"/>
            <a:ext cx="3886708" cy="279646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6684FBF-F4A0-5B63-7D2F-077D700D0A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7" y="1632253"/>
            <a:ext cx="3886709" cy="279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40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9B50E-8F63-D882-D003-A57F58727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12F383F-B981-4BC3-9E2B-7BE938CE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240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AA485AD-076E-4077-A6E6-C3C9F0C39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D088DBDF-80D5-4FC0-8A54-9D660B72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58D235B8-3D10-493F-88AC-84BB404C1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EF89024-3B65-087D-5CE6-E71205CCAC1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0"/>
          <a:stretch>
            <a:fillRect/>
          </a:stretch>
        </p:blipFill>
        <p:spPr>
          <a:xfrm rot="10800000">
            <a:off x="20" y="10"/>
            <a:ext cx="6097022" cy="342899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9BC2BEF-CA3D-EFED-27CD-553614F0E9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/>
          <a:stretch>
            <a:fillRect/>
          </a:stretch>
        </p:blipFill>
        <p:spPr>
          <a:xfrm>
            <a:off x="6098422" y="10"/>
            <a:ext cx="6093578" cy="342899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006EACF-4138-A76B-F920-8417D4F1BBE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"/>
          <a:stretch>
            <a:fillRect/>
          </a:stretch>
        </p:blipFill>
        <p:spPr>
          <a:xfrm>
            <a:off x="7328" y="3429000"/>
            <a:ext cx="6093578" cy="3429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26E0B96-855C-9BE7-3A23-89AED45847A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"/>
          <a:stretch>
            <a:fillRect/>
          </a:stretch>
        </p:blipFill>
        <p:spPr>
          <a:xfrm>
            <a:off x="6101860" y="3429000"/>
            <a:ext cx="6093578" cy="342900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34C5AC0-0E55-962F-1098-25A0959E1EFA}"/>
              </a:ext>
            </a:extLst>
          </p:cNvPr>
          <p:cNvSpPr txBox="1"/>
          <p:nvPr/>
        </p:nvSpPr>
        <p:spPr>
          <a:xfrm>
            <a:off x="1203608" y="3016623"/>
            <a:ext cx="9801082" cy="9771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Kaohsiung</a:t>
            </a:r>
          </a:p>
        </p:txBody>
      </p:sp>
    </p:spTree>
    <p:extLst>
      <p:ext uri="{BB962C8B-B14F-4D97-AF65-F5344CB8AC3E}">
        <p14:creationId xmlns:p14="http://schemas.microsoft.com/office/powerpoint/2010/main" val="365559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06D4B-4EDD-CEBE-3021-223F449D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DBBAA38-F3CE-441D-0D4F-5AE8B4E84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AE6AA6-59D9-9B22-CF1D-16FFB91E5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7958D8-8209-8064-D493-2F83E445D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5E47398-6CC8-ABE8-5CE4-2A17AE396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87D78E0-7A5A-F528-454F-AB020D509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241657D-A1FE-72EC-083B-21C772604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AD2008E-7AF0-C5DF-941C-7DBBB24783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6BCD5DB-60AC-975B-941B-00E44BD64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2974B5C-0782-D23F-577B-591911923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ECC621BA-ADF2-94CC-5C07-F00403AC2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687853E-4DB7-DEF9-D0D5-A1953561D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370070B-B651-2D92-4E4F-4BE0A7BCC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943792F-B8E8-68BF-2856-09A2BA3CE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0B6FD40-0B8B-195A-C8B8-A8991CBF9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DB41CF1-B8B0-B6CF-5CD2-91EAF980C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68206608-1407-8D72-D7F2-171AA1734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01511F4-F194-8EBB-033C-92ECF0E80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E7DEE4-D28D-E440-0C13-1AEA80C09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24B60E4-F633-4CE7-6A88-3B5F46D38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AB96CAE-843C-20D7-EFCD-BDB2D7F9D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DFF2221-B4FB-44FD-C78B-A32E0E7F5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1CDF11B2-7C68-3A35-F35E-37123EC8DF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5151" y="4313142"/>
                <a:ext cx="9499219" cy="117636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b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4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4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		</a:t>
                </a:r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sym typeface="Wingdings" panose="05000000000000000000" pitchFamily="2" charset="2"/>
                  </a:rPr>
                  <a:t>		„</a:t>
                </a:r>
                <a:r>
                  <a:rPr lang="de-DE" sz="4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sym typeface="Wingdings" panose="05000000000000000000" pitchFamily="2" charset="2"/>
                  </a:rPr>
                  <a:t>rounded</a:t>
                </a:r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de-DE" sz="4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sym typeface="Wingdings" panose="05000000000000000000" pitchFamily="2" charset="2"/>
                  </a:rPr>
                  <a:t>droplet</a:t>
                </a:r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sym typeface="Wingdings" panose="05000000000000000000" pitchFamily="2" charset="2"/>
                  </a:rPr>
                  <a:t>“</a:t>
                </a:r>
                <a:endParaRPr lang="de-DE" sz="480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1CDF11B2-7C68-3A35-F35E-37123EC8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151" y="4313142"/>
                <a:ext cx="9499219" cy="1176360"/>
              </a:xfrm>
              <a:prstGeom prst="rect">
                <a:avLst/>
              </a:prstGeom>
              <a:blipFill>
                <a:blip r:embed="rId3"/>
                <a:stretch>
                  <a:fillRect r="-2118" b="-279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B106B401-DA50-E014-2E12-D3D59FE9D3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9219" y="3153793"/>
                <a:ext cx="9499219" cy="117636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b">
                <a:normAutofit fontScale="70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800" b="1" dirty="0">
                    <a:solidFill>
                      <a:schemeClr val="bg1"/>
                    </a:solidFill>
                  </a:rPr>
                  <a:t>Half-</a:t>
                </a:r>
                <a:r>
                  <a:rPr lang="de-DE" sz="4800" b="1" dirty="0" err="1">
                    <a:solidFill>
                      <a:schemeClr val="bg1"/>
                    </a:solidFill>
                  </a:rPr>
                  <a:t>Sphere</a:t>
                </a:r>
                <a:r>
                  <a:rPr lang="de-DE" sz="4800" b="1" dirty="0">
                    <a:solidFill>
                      <a:schemeClr val="bg1"/>
                    </a:solidFill>
                  </a:rPr>
                  <a:t> Diameter:	</a:t>
                </a:r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de-DE" sz="4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e-DE" sz="48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48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12⋅</m:t>
                            </m:r>
                            <m:f>
                              <m:fPr>
                                <m:ctrlPr>
                                  <a:rPr lang="de-DE" sz="48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48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de-DE" sz="48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</m:oMath>
                </a14:m>
                <a:endParaRPr lang="de-DE" sz="480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B106B401-DA50-E014-2E12-D3D59FE9D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219" y="3153793"/>
                <a:ext cx="9499219" cy="1176360"/>
              </a:xfrm>
              <a:prstGeom prst="rect">
                <a:avLst/>
              </a:prstGeom>
              <a:blipFill>
                <a:blip r:embed="rId4"/>
                <a:stretch>
                  <a:fillRect l="-513" b="-88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el 1">
            <a:extLst>
              <a:ext uri="{FF2B5EF4-FFF2-40B4-BE49-F238E27FC236}">
                <a16:creationId xmlns:a16="http://schemas.microsoft.com/office/drawing/2014/main" id="{3355A30D-72BE-0453-D013-69A36E2956EB}"/>
              </a:ext>
            </a:extLst>
          </p:cNvPr>
          <p:cNvSpPr txBox="1">
            <a:spLocks/>
          </p:cNvSpPr>
          <p:nvPr/>
        </p:nvSpPr>
        <p:spPr>
          <a:xfrm>
            <a:off x="1191703" y="1725484"/>
            <a:ext cx="10342156" cy="108139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 b="1" dirty="0">
                <a:solidFill>
                  <a:schemeClr val="bg1"/>
                </a:solidFill>
              </a:rPr>
              <a:t>„</a:t>
            </a:r>
            <a:r>
              <a:rPr lang="de-DE" sz="3600" b="1" dirty="0" err="1">
                <a:solidFill>
                  <a:schemeClr val="bg1"/>
                </a:solidFill>
              </a:rPr>
              <a:t>Assume</a:t>
            </a:r>
            <a:r>
              <a:rPr lang="de-DE" sz="3600" b="1" dirty="0">
                <a:solidFill>
                  <a:schemeClr val="bg1"/>
                </a:solidFill>
              </a:rPr>
              <a:t> the </a:t>
            </a:r>
            <a:r>
              <a:rPr lang="de-DE" sz="3600" b="1" dirty="0" err="1">
                <a:solidFill>
                  <a:schemeClr val="bg1"/>
                </a:solidFill>
              </a:rPr>
              <a:t>Droplet</a:t>
            </a:r>
            <a:r>
              <a:rPr lang="de-DE" sz="3600" b="1" dirty="0">
                <a:solidFill>
                  <a:schemeClr val="bg1"/>
                </a:solidFill>
              </a:rPr>
              <a:t> </a:t>
            </a:r>
            <a:r>
              <a:rPr lang="de-DE" sz="3600" b="1" dirty="0" err="1">
                <a:solidFill>
                  <a:schemeClr val="bg1"/>
                </a:solidFill>
              </a:rPr>
              <a:t>describes</a:t>
            </a:r>
            <a:r>
              <a:rPr lang="de-DE" sz="3600" b="1" dirty="0">
                <a:solidFill>
                  <a:schemeClr val="bg1"/>
                </a:solidFill>
              </a:rPr>
              <a:t> a </a:t>
            </a:r>
            <a:r>
              <a:rPr lang="de-DE" sz="3600" b="1" dirty="0" err="1">
                <a:solidFill>
                  <a:schemeClr val="bg1"/>
                </a:solidFill>
              </a:rPr>
              <a:t>perfect</a:t>
            </a:r>
            <a:r>
              <a:rPr lang="de-DE" sz="3600" b="1" dirty="0">
                <a:solidFill>
                  <a:schemeClr val="bg1"/>
                </a:solidFill>
              </a:rPr>
              <a:t> half </a:t>
            </a:r>
            <a:r>
              <a:rPr lang="de-DE" sz="3600" b="1" dirty="0" err="1">
                <a:solidFill>
                  <a:schemeClr val="bg1"/>
                </a:solidFill>
              </a:rPr>
              <a:t>sphere</a:t>
            </a:r>
            <a:r>
              <a:rPr lang="de-DE" sz="3600" b="1" dirty="0">
                <a:solidFill>
                  <a:schemeClr val="bg1"/>
                </a:solidFill>
              </a:rPr>
              <a:t>.“</a:t>
            </a:r>
            <a:endParaRPr lang="de-DE" sz="3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5596EB6F-20EA-BD8E-D8B9-107CFB6A438F}"/>
              </a:ext>
            </a:extLst>
          </p:cNvPr>
          <p:cNvSpPr txBox="1">
            <a:spLocks/>
          </p:cNvSpPr>
          <p:nvPr/>
        </p:nvSpPr>
        <p:spPr>
          <a:xfrm>
            <a:off x="1088246" y="230301"/>
            <a:ext cx="9499219" cy="11763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Comparing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Volume 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with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Contact 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Length</a:t>
            </a:r>
            <a:endParaRPr lang="de-DE" sz="4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706D1CF3-1E69-7487-8830-44524F1DB2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1997" y="5193330"/>
                <a:ext cx="9499219" cy="117636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b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4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4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		</a:t>
                </a:r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sym typeface="Wingdings" panose="05000000000000000000" pitchFamily="2" charset="2"/>
                  </a:rPr>
                  <a:t>		„</a:t>
                </a:r>
                <a:r>
                  <a:rPr lang="de-DE" sz="4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sym typeface="Wingdings" panose="05000000000000000000" pitchFamily="2" charset="2"/>
                  </a:rPr>
                  <a:t>flattened</a:t>
                </a:r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de-DE" sz="4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sym typeface="Wingdings" panose="05000000000000000000" pitchFamily="2" charset="2"/>
                  </a:rPr>
                  <a:t>droplet</a:t>
                </a:r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sym typeface="Wingdings" panose="05000000000000000000" pitchFamily="2" charset="2"/>
                  </a:rPr>
                  <a:t>“</a:t>
                </a:r>
                <a:endParaRPr lang="de-DE" sz="480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706D1CF3-1E69-7487-8830-44524F1DB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997" y="5193330"/>
                <a:ext cx="9499219" cy="1176360"/>
              </a:xfrm>
              <a:prstGeom prst="rect">
                <a:avLst/>
              </a:prstGeom>
              <a:blipFill>
                <a:blip r:embed="rId5"/>
                <a:stretch>
                  <a:fillRect r="-2824" b="-279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223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E6B4C-F8C0-6F7E-15D6-72D84550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15003FD-6238-5677-345C-3D6F6446A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D1F188E-CE00-17E5-A069-0B9FE0F16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479551D-EE01-2971-4857-2EBACB4A6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2D8458E-BC8D-6AB4-C1BF-F89DEDF69B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7A60C67-99BE-4D46-AB05-C4793A1D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A2D0114-D914-64C0-28BD-F036A48A5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C372157-8D05-8D73-4EBF-17D3CDCD2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CC74AF0-23A0-72C0-4BC3-AD973C33C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AAA58F5-5BF0-AE2E-DF11-B2E982062F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2CD35893-931F-0BC7-3D23-700F30F8D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261532A-86D2-349A-2789-69D1B0FC2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03B00CA-7CBD-36CE-9252-387AE6C9D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E32F5CC-702E-93FF-2A0C-8382D208B3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B65867C-2E0D-2B5E-E85A-FD50EFB80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FAFDBB2-CC7E-6769-9E06-96F8DCCC2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8E97910F-48FC-DC1E-FF0F-E995BF60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3EA2AC0-0F19-D5AC-AF7E-EB22697B6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ACDF6FD-B7CD-9041-155D-560460B3F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B2A7414-5F47-993E-AE95-879417742D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6C29EE6-0D6D-483B-3376-B22DBE38A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66B2D6B-7E3F-CFC9-93DE-B4E28AD8C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5304EA2A-755B-C093-CCC3-F2DA56127476}"/>
              </a:ext>
            </a:extLst>
          </p:cNvPr>
          <p:cNvSpPr txBox="1"/>
          <p:nvPr/>
        </p:nvSpPr>
        <p:spPr>
          <a:xfrm>
            <a:off x="1030237" y="4739734"/>
            <a:ext cx="233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</a:rPr>
              <a:t>2mm PMMA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B69621A-548A-E7B9-9FF3-198933B1DBD3}"/>
              </a:ext>
            </a:extLst>
          </p:cNvPr>
          <p:cNvSpPr txBox="1"/>
          <p:nvPr/>
        </p:nvSpPr>
        <p:spPr>
          <a:xfrm>
            <a:off x="4898253" y="4739734"/>
            <a:ext cx="233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</a:rPr>
              <a:t>4mm PMMA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438A3B9-1635-74CE-ABAA-176971EEE677}"/>
              </a:ext>
            </a:extLst>
          </p:cNvPr>
          <p:cNvSpPr txBox="1"/>
          <p:nvPr/>
        </p:nvSpPr>
        <p:spPr>
          <a:xfrm>
            <a:off x="8922261" y="4762678"/>
            <a:ext cx="2337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</a:rPr>
              <a:t>10mm PMMA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8CB8078-3B7A-C1B8-16C1-2B94835BE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082" y="1637059"/>
            <a:ext cx="3645286" cy="294872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775C835-A5BC-49DF-EB66-3904C9ACDD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847" y="1632614"/>
            <a:ext cx="3645286" cy="294872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5B5CA38-0D31-70D4-6029-2D9DBA33AC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93" y="1616817"/>
            <a:ext cx="3645286" cy="29487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7817B64F-604B-A3D0-616B-532F88D76B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5223" y="5221390"/>
                <a:ext cx="11121044" cy="117636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b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Model </a:t>
                </a:r>
                <a:r>
                  <a:rPr lang="de-DE" sz="4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fits</a:t>
                </a:r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 </a:t>
                </a:r>
                <a:r>
                  <a:rPr lang="de-DE" sz="4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with</a:t>
                </a:r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 high </a:t>
                </a:r>
                <a:r>
                  <a:rPr lang="de-DE" sz="4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flexibility</a:t>
                </a:r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!	 </a:t>
                </a:r>
                <a14:m>
                  <m:oMath xmlns:m="http://schemas.openxmlformats.org/officeDocument/2006/math">
                    <m:r>
                      <a:rPr lang="de-DE" sz="4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4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≪1)</m:t>
                    </m:r>
                  </m:oMath>
                </a14:m>
                <a:endParaRPr lang="de-DE" sz="480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7817B64F-604B-A3D0-616B-532F88D76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23" y="5221390"/>
                <a:ext cx="11121044" cy="1176360"/>
              </a:xfrm>
              <a:prstGeom prst="rect">
                <a:avLst/>
              </a:prstGeom>
              <a:blipFill>
                <a:blip r:embed="rId6"/>
                <a:stretch>
                  <a:fillRect l="-1644" b="-2812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F977CFC8-A8FC-2BD2-5DEB-BAEBE28151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8246" y="153594"/>
                <a:ext cx="9499219" cy="117636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b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Linear Model:		 </a:t>
                </a:r>
                <a14:m>
                  <m:oMath xmlns:m="http://schemas.openxmlformats.org/officeDocument/2006/math">
                    <m:r>
                      <a:rPr lang="de-DE" sz="4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4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sz="4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48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de-DE" sz="480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F977CFC8-A8FC-2BD2-5DEB-BAEBE2815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46" y="153594"/>
                <a:ext cx="9499219" cy="1176360"/>
              </a:xfrm>
              <a:prstGeom prst="rect">
                <a:avLst/>
              </a:prstGeom>
              <a:blipFill>
                <a:blip r:embed="rId7"/>
                <a:stretch>
                  <a:fillRect b="-279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991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33BAF-B492-7F03-BD07-07FDC0D4E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085666C-72A6-96D4-F855-494EF4823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5BF373-0432-3A9E-A716-56AA99DE7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3AF753A-3597-D279-785D-892C38F36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CC52EA9-BC74-033F-F16A-47CA76649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6792408-AED0-4CB3-CC6E-CE9771E18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A52EEC6-4C93-1D7A-47AB-8AF9DB6C7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12A350A-3ECB-F1A6-9272-3F64F28AA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6379F75-D608-4A01-1A68-39DA477F1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011D37B-869B-572C-DB35-439D3FB97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47E4245-23F1-3BE5-1989-7BB4E9DE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786" y="134710"/>
            <a:ext cx="9499219" cy="1176360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Report 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Preparations</a:t>
            </a:r>
            <a:endParaRPr lang="de-DE" sz="4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7DE453B-66E5-7037-838C-25558CF22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54C5062-D67A-C1B5-2FD4-D3BA8A4EA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02BEC79-6B21-C305-AE68-63AC873AB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7A51889-C472-D2B8-043B-2699AB0F2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D6B4ADD-FFCA-3184-6FA7-F0FCAC9E9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14375E8-72EE-DCDB-2CC2-D205BF60B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C56A91DE-8A8C-3A7E-BAF8-E4D985E4A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E69E59C-5E3B-EA75-2CAF-53C15DA78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55251D2-E35B-74BE-9C45-328442405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5C6E3F7-0E6C-B42F-6BA8-7D4EEF128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3E13F00-17BF-5A48-6C9A-2DC80CC87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E69647D-960F-9886-CC65-717A1F8F5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1F9AC7FE-90EE-8F33-900D-D9DEB4613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078" y="1611085"/>
            <a:ext cx="4330700" cy="158981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8755B5D-22FC-9E47-8AD6-53810FB197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317" y="1563136"/>
            <a:ext cx="3670483" cy="189157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88C7DBD-E398-016A-1841-3D69E16E9B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435" y="3500919"/>
            <a:ext cx="3586759" cy="280187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9359FCA-1335-7D45-1795-CB6C307A24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2" y="4375710"/>
            <a:ext cx="3706600" cy="180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5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Breitbild</PresentationFormat>
  <Paragraphs>29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Office</vt:lpstr>
      <vt:lpstr>Droplets on Cylindrical PMMA Surfaces</vt:lpstr>
      <vt:lpstr>Contact Lengths (Refresher)</vt:lpstr>
      <vt:lpstr>Aspect Ratios (Refresher)</vt:lpstr>
      <vt:lpstr>PowerPoint-Präsentation</vt:lpstr>
      <vt:lpstr>PowerPoint-Präsentation</vt:lpstr>
      <vt:lpstr>PowerPoint-Präsentation</vt:lpstr>
      <vt:lpstr>Report Preparations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Jasper.Reinhardt</dc:creator>
  <cp:lastModifiedBy>Jasper.Reinhardt</cp:lastModifiedBy>
  <cp:revision>13</cp:revision>
  <dcterms:created xsi:type="dcterms:W3CDTF">2026-08-20T23:10:51Z</dcterms:created>
  <dcterms:modified xsi:type="dcterms:W3CDTF">2026-09-11T09:44:20Z</dcterms:modified>
</cp:coreProperties>
</file>